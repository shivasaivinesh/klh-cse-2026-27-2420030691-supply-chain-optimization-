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537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2468880"/>
            <a:ext cx="11094415" cy="1828800"/>
          </a:xfrm>
          <a:prstGeom prst="rect">
            <a:avLst/>
          </a:prstGeom>
          <a:noFill/>
          <a:ln/>
        </p:spPr>
        <p:txBody>
          <a:bodyPr wrap="square" rtlCol="0" anchor="ctr"/>
          <a:lstStyle/>
          <a:p>
            <a:pPr algn="ctr"/>
            <a:r>
              <a:rPr>
                <a:latin typeface="Aptos"/>
              </a:rPr>
              <a:t>MACHINE LEARNING-BASED PREDICTIVE ANALYTICS FOR SUPPLY CHAIN OPTIMIZATION</a:t>
            </a:r>
            <a:endParaRPr lang="en-US" sz="3000" dirty="0"/>
          </a:p>
        </p:txBody>
      </p:sp>
      <p:pic>
        <p:nvPicPr>
          <p:cNvPr id="7" name="Picture 6">
            <a:extLst>
              <a:ext uri="{FF2B5EF4-FFF2-40B4-BE49-F238E27FC236}">
                <a16:creationId xmlns:a16="http://schemas.microsoft.com/office/drawing/2014/main" id="{DE9DFA40-F1C4-2122-89F4-30BFA5A00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0"/>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PROBLEM STATEMENT</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228600" indent="-228600">
              <a:lnSpc>
                <a:spcPct val="115000"/>
              </a:lnSpc>
              <a:spcAft>
                <a:spcPts val="1000"/>
              </a:spcAft>
              <a:buSzPct val="100000"/>
              <a:buChar char="•"/>
            </a:pPr>
            <a:r>
              <a:rPr>
                <a:latin typeface="Aptos"/>
              </a:rPr>
              <a:t>Modern supply chains face uncertain demand, changing prices, transportation delays, inventory imbalance, and unexpected disruptions.</a:t>
            </a:r>
            <a:br/>
            <a:r>
              <a:rPr>
                <a:latin typeface="Aptos"/>
              </a:rPr>
              <a:t>Traditional planning methods may struggle to capture complex relationships across sales, inventory, pricing, calendar, and operational data.</a:t>
            </a:r>
            <a:br/>
            <a:r>
              <a:rPr>
                <a:latin typeface="Aptos"/>
              </a:rPr>
              <a:t>Therefore, there is a need for a machine learning-based predictive analytics system that can forecast demand and support inventory, logistics, and supply chain decisions.</a:t>
            </a:r>
            <a:endParaRPr lang="en-US" sz="1700" dirty="0"/>
          </a:p>
        </p:txBody>
      </p:sp>
      <p:pic>
        <p:nvPicPr>
          <p:cNvPr id="7" name="Picture 6">
            <a:extLst>
              <a:ext uri="{FF2B5EF4-FFF2-40B4-BE49-F238E27FC236}">
                <a16:creationId xmlns:a16="http://schemas.microsoft.com/office/drawing/2014/main" id="{B96E80F2-31AB-E7D4-6287-1BF895C5A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OBJECTIVES</a:t>
            </a:r>
            <a:endParaRPr lang="en-US" sz="2400" dirty="0"/>
          </a:p>
        </p:txBody>
      </p:sp>
      <p:sp>
        <p:nvSpPr>
          <p:cNvPr id="5" name="Text 2"/>
          <p:cNvSpPr/>
          <p:nvPr/>
        </p:nvSpPr>
        <p:spPr>
          <a:xfrm>
            <a:off x="822960" y="1828800"/>
            <a:ext cx="10820095" cy="4572000"/>
          </a:xfrm>
          <a:prstGeom prst="rect">
            <a:avLst/>
          </a:prstGeom>
          <a:noFill/>
          <a:ln/>
        </p:spPr>
        <p:txBody>
          <a:bodyPr wrap="square" rtlCol="0" anchor="t"/>
          <a:lstStyle/>
          <a:p>
            <a:pPr marL="228600" indent="-228600">
              <a:lnSpc>
                <a:spcPct val="115000"/>
              </a:lnSpc>
              <a:buSzPct val="100000"/>
              <a:buChar char="•"/>
            </a:pPr>
            <a:r>
              <a:rPr>
                <a:latin typeface="Aptos"/>
              </a:rPr>
              <a:t>To integrate data preprocessing, exploratory data analysis, and feature engineering within a single predictive analytics framework.</a:t>
            </a:r>
            <a:br/>
            <a:r>
              <a:rPr>
                <a:latin typeface="Aptos"/>
              </a:rPr>
              <a:t>To compare multiple machine learning models for demand forecasting and supply chain prediction.</a:t>
            </a:r>
            <a:br/>
            <a:r>
              <a:rPr>
                <a:latin typeface="Aptos"/>
              </a:rPr>
              <a:t>To identify important factors such as historical demand, price, seasonality, holidays, and store or product characteristics.</a:t>
            </a:r>
            <a:br/>
            <a:r>
              <a:rPr>
                <a:latin typeface="Aptos"/>
              </a:rPr>
              <a:t>To develop an interactive dashboard for demand forecasts, inventory insights, and supply chain analytics.</a:t>
            </a:r>
            <a:br/>
            <a:r>
              <a:rPr>
                <a:latin typeface="Aptos"/>
              </a:rPr>
              <a:t>To support data-driven decisions that can reduce stockouts, excess inventory, and operational inefficiencies.</a:t>
            </a:r>
            <a:endParaRPr lang="en-US" sz="1700" dirty="0"/>
          </a:p>
        </p:txBody>
      </p:sp>
      <p:pic>
        <p:nvPicPr>
          <p:cNvPr id="7" name="Picture 6">
            <a:extLst>
              <a:ext uri="{FF2B5EF4-FFF2-40B4-BE49-F238E27FC236}">
                <a16:creationId xmlns:a16="http://schemas.microsoft.com/office/drawing/2014/main" id="{1307DE70-48A0-83B4-B1F8-EC0551E7EE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LITERATURE SURVEY — PAPERS 1 TO 5</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2438984663"/>
              </p:ext>
            </p:extLst>
          </p:nvPr>
        </p:nvGraphicFramePr>
        <p:xfrm>
          <a:off x="548640" y="1600200"/>
          <a:ext cx="11094415" cy="4445267"/>
        </p:xfrm>
        <a:graphic>
          <a:graphicData uri="http://schemas.openxmlformats.org/drawingml/2006/table">
            <a:tbl>
              <a:tblPr/>
              <a:tblGrid>
                <a:gridCol w="36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3200000">
                  <a:extLst>
                    <a:ext uri="{9D8B030D-6E8A-4147-A177-3AD203B41FA5}">
                      <a16:colId xmlns:a16="http://schemas.microsoft.com/office/drawing/2014/main" val="20002"/>
                    </a:ext>
                  </a:extLst>
                </a:gridCol>
                <a:gridCol w="2794415">
                  <a:extLst>
                    <a:ext uri="{9D8B030D-6E8A-4147-A177-3AD203B41FA5}">
                      <a16:colId xmlns:a16="http://schemas.microsoft.com/office/drawing/2014/main" val="20003"/>
                    </a:ext>
                  </a:extLst>
                </a:gridCol>
              </a:tblGrid>
              <a:tr h="0">
                <a:tc>
                  <a:txBody>
                    <a:bodyPr/>
                    <a:lstStyle/>
                    <a:p>
                      <a:r>
                        <a:rPr sz="850">
                          <a:latin typeface="Aptos"/>
                        </a:rPr>
                        <a:t>Research Paper</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r>
                        <a:rPr sz="850">
                          <a:latin typeface="Aptos"/>
                        </a:rPr>
                        <a:t>Publication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r>
                        <a:rPr sz="850">
                          <a:latin typeface="Aptos"/>
                        </a:rPr>
                        <a:t>Key Contribution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r>
                        <a:rPr sz="850">
                          <a:latin typeface="Aptos"/>
                        </a:rPr>
                        <a:t>Limitations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extLst>
                  <a:ext uri="{0D108BD9-81ED-4DB2-BD59-A6C34878D82A}">
                    <a16:rowId xmlns:a16="http://schemas.microsoft.com/office/drawing/2014/main" val="10000"/>
                  </a:ext>
                </a:extLst>
              </a:tr>
              <a:tr h="673768">
                <a:tc>
                  <a:txBody>
                    <a:bodyPr/>
                    <a:lstStyle/>
                    <a:p>
                      <a:r>
                        <a:rPr sz="800">
                          <a:latin typeface="Aptos"/>
                        </a:rPr>
                        <a:t>Review and analysis of artificial intelligence methods for demand forecasting in supply chain management (2022)</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Procedia CIRP</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Reviews AI methods for demand forecasting and classifies approaches by data characteristics and forecast horizon.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Primarily a review; does not provide a unified deployed optimization system.</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30179">
                <a:tc>
                  <a:txBody>
                    <a:bodyPr/>
                    <a:lstStyle/>
                    <a:p>
                      <a:r>
                        <a:rPr sz="800">
                          <a:latin typeface="Aptos"/>
                        </a:rPr>
                        <a:t>The Role of Artificial Intelligence and Machine Learning in Supply Chain Optimization (2023)</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Journal of Harbin Engineering University</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Synthesizes ML applications in inventory, demand forecasting, logistics, and decision-making.</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Broad systematic review with limited implementation detail.</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2"/>
                  </a:ext>
                </a:extLst>
              </a:tr>
              <a:tr h="1002632">
                <a:tc>
                  <a:txBody>
                    <a:bodyPr/>
                    <a:lstStyle/>
                    <a:p>
                      <a:r>
                        <a:rPr sz="800">
                          <a:latin typeface="Aptos"/>
                        </a:rPr>
                        <a:t>Machine Learning and Deep Learning Models for Demand Forecasting in Supply Chain Management (2024)</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Applied System Innovation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Reviews 119 papers and compares ML/DL approaches for supply-chain demand forecasting.</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Focuses mainly on forecasting rather than end-to-end optimization.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968">
                <a:tc>
                  <a:txBody>
                    <a:bodyPr/>
                    <a:lstStyle/>
                    <a:p>
                      <a:r>
                        <a:rPr sz="800">
                          <a:latin typeface="Aptos"/>
                        </a:rPr>
                        <a:t>Enhancing supply chain management with deep learning and machine learning techniques: A review (2024)</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Journal of Open Innovation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Reviews ML/DL for supplier selection, production, inventory, transportation, and demand estimation.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Identifies opportunities but does not provide one integrated dashboard.</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4"/>
                  </a:ext>
                </a:extLst>
              </a:tr>
              <a:tr h="914400">
                <a:tc>
                  <a:txBody>
                    <a:bodyPr/>
                    <a:lstStyle/>
                    <a:p>
                      <a:r>
                        <a:rPr sz="800">
                          <a:latin typeface="Aptos"/>
                        </a:rPr>
                        <a:t>On the use of machine learning in supply chain management: a systematic review (2025)</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IMA Journal of Management Mathematics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Reviews 415 papers and maps ML applications across SCOR processes.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Review-oriented; practical deployment and validation remain open challenges.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7" name="Picture 6">
            <a:extLst>
              <a:ext uri="{FF2B5EF4-FFF2-40B4-BE49-F238E27FC236}">
                <a16:creationId xmlns:a16="http://schemas.microsoft.com/office/drawing/2014/main" id="{B412F581-1D39-1B78-BD31-C5E8984A8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LITERATURE SURVEY — PAPERS 6 TO 10</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209682793"/>
              </p:ext>
            </p:extLst>
          </p:nvPr>
        </p:nvGraphicFramePr>
        <p:xfrm>
          <a:off x="548640" y="1600200"/>
          <a:ext cx="11094415" cy="4471736"/>
        </p:xfrm>
        <a:graphic>
          <a:graphicData uri="http://schemas.openxmlformats.org/drawingml/2006/table">
            <a:tbl>
              <a:tblPr/>
              <a:tblGrid>
                <a:gridCol w="36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3200000">
                  <a:extLst>
                    <a:ext uri="{9D8B030D-6E8A-4147-A177-3AD203B41FA5}">
                      <a16:colId xmlns:a16="http://schemas.microsoft.com/office/drawing/2014/main" val="20002"/>
                    </a:ext>
                  </a:extLst>
                </a:gridCol>
                <a:gridCol w="2794415">
                  <a:extLst>
                    <a:ext uri="{9D8B030D-6E8A-4147-A177-3AD203B41FA5}">
                      <a16:colId xmlns:a16="http://schemas.microsoft.com/office/drawing/2014/main" val="20003"/>
                    </a:ext>
                  </a:extLst>
                </a:gridCol>
              </a:tblGrid>
              <a:tr h="0">
                <a:tc>
                  <a:txBody>
                    <a:bodyPr/>
                    <a:lstStyle/>
                    <a:p>
                      <a:r>
                        <a:rPr sz="850">
                          <a:latin typeface="Aptos"/>
                        </a:rPr>
                        <a:t>Research Paper</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r>
                        <a:rPr sz="850">
                          <a:latin typeface="Aptos"/>
                        </a:rPr>
                        <a:t>Publication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r>
                        <a:rPr sz="850">
                          <a:latin typeface="Aptos"/>
                        </a:rPr>
                        <a:t>Key Contribution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r>
                        <a:rPr sz="850">
                          <a:latin typeface="Aptos"/>
                        </a:rPr>
                        <a:t>Limitations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extLst>
                  <a:ext uri="{0D108BD9-81ED-4DB2-BD59-A6C34878D82A}">
                    <a16:rowId xmlns:a16="http://schemas.microsoft.com/office/drawing/2014/main" val="10000"/>
                  </a:ext>
                </a:extLst>
              </a:tr>
              <a:tr h="740343">
                <a:tc>
                  <a:txBody>
                    <a:bodyPr/>
                    <a:lstStyle/>
                    <a:p>
                      <a:r>
                        <a:rPr sz="800">
                          <a:latin typeface="Aptos"/>
                        </a:rPr>
                        <a:t>Machine learning in supply chain management: systematic literature review and future research agenda (2025)</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International Journal of Production Research</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Reviews 107 studies and highlights demand forecasting, procurement, risk/resilience, and network optimization.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Highlights gaps but does not implement a complete predictive optimization platform.</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0021">
                <a:tc>
                  <a:txBody>
                    <a:bodyPr/>
                    <a:lstStyle/>
                    <a:p>
                      <a:r>
                        <a:rPr sz="800">
                          <a:latin typeface="Aptos"/>
                        </a:rPr>
                        <a:t>A systematic review of machine learning approaches in inventory control optimization (2025)</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Operations Research Perspectives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Reviews 122 articles and identifies separate, static-integrated, and dynamic/RL approaches.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Scaling and real-world deployment remain challenging.</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2"/>
                  </a:ext>
                </a:extLst>
              </a:tr>
              <a:tr h="954505">
                <a:tc>
                  <a:txBody>
                    <a:bodyPr/>
                    <a:lstStyle/>
                    <a:p>
                      <a:r>
                        <a:rPr sz="800">
                          <a:latin typeface="Aptos"/>
                        </a:rPr>
                        <a:t>Leveraging Data Science for Demand Forecasting and Inventory Management (2025)</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Journal of Basic and Applied Research International</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Discusses predictive analytics, ML, ARIMA, LSTM, and hybrid methods for demand and inventory decisions.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Broad review; data integration and interpretability remain limitations.</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7266">
                <a:tc>
                  <a:txBody>
                    <a:bodyPr/>
                    <a:lstStyle/>
                    <a:p>
                      <a:r>
                        <a:rPr sz="800">
                          <a:latin typeface="Aptos"/>
                        </a:rPr>
                        <a:t>Machine Learning Applications in End-To-End Supply Chain Management (2025)</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International Journal of Scientific Research and Management</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Covers procurement, demand forecasting, production scheduling, inventory, warehousing, and transportation.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r>
                        <a:rPr sz="800">
                          <a:latin typeface="Aptos"/>
                        </a:rPr>
                        <a:t>Comprehensive review but limited unified experimental validation.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4"/>
                  </a:ext>
                </a:extLst>
              </a:tr>
              <a:tr h="945281">
                <a:tc>
                  <a:txBody>
                    <a:bodyPr/>
                    <a:lstStyle/>
                    <a:p>
                      <a:r>
                        <a:rPr sz="800">
                          <a:latin typeface="Aptos"/>
                        </a:rPr>
                        <a:t>Harnessing machine learning for supply chain management: A systematic review and future research framework (2026)</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Computers &amp; Operations Research</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Organizes ML research around demand forecasting, procurement, risk/resilience, and network optimization.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r>
                        <a:rPr sz="800">
                          <a:latin typeface="Aptos"/>
                        </a:rPr>
                        <a:t>Identifies technical, organizational, and contextual barriers that require further validation.</a:t>
                      </a:r>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7" name="Picture 6">
            <a:extLst>
              <a:ext uri="{FF2B5EF4-FFF2-40B4-BE49-F238E27FC236}">
                <a16:creationId xmlns:a16="http://schemas.microsoft.com/office/drawing/2014/main" id="{F37F3D33-8D89-570A-14E7-22E3E14ADE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RESEARCH GAP</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228600" indent="-228600">
              <a:lnSpc>
                <a:spcPct val="115000"/>
              </a:lnSpc>
              <a:spcAft>
                <a:spcPts val="1000"/>
              </a:spcAft>
              <a:buSzPct val="100000"/>
              <a:buChar char="•"/>
            </a:pPr>
            <a:r>
              <a:rPr>
                <a:latin typeface="Aptos"/>
              </a:rPr>
              <a:t>Existing research has extensively applied machine learning to demand forecasting, inventory management, transportation, procurement, and supply chain risk.</a:t>
            </a:r>
            <a:br/>
            <a:r>
              <a:rPr>
                <a:latin typeface="Aptos"/>
              </a:rPr>
              <a:t>Many studies focus on a single supply chain function or a single forecasting objective.</a:t>
            </a:r>
            <a:br/>
            <a:r>
              <a:rPr>
                <a:latin typeface="Aptos"/>
              </a:rPr>
              <a:t>Recent reviews show growing use of supervised learning, deep learning, and reinforcement learning, but practical integration across forecasting, inventory insights, and logistics analytics remains challenging.</a:t>
            </a:r>
            <a:br/>
            <a:r>
              <a:rPr>
                <a:latin typeface="Aptos"/>
              </a:rPr>
              <a:t>Therefore, the proposed work focuses on connecting predictive forecasting, feature-based analysis, model comparison, and an interactive decision-support dashboard in one framework.</a:t>
            </a:r>
            <a:endParaRPr lang="en-US" sz="1400" dirty="0"/>
          </a:p>
        </p:txBody>
      </p:sp>
      <p:pic>
        <p:nvPicPr>
          <p:cNvPr id="7" name="Picture 6">
            <a:extLst>
              <a:ext uri="{FF2B5EF4-FFF2-40B4-BE49-F238E27FC236}">
                <a16:creationId xmlns:a16="http://schemas.microsoft.com/office/drawing/2014/main" id="{7AF53F2C-6708-DF41-6D64-22DBBCF2E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pic>
        <p:nvPicPr>
          <p:cNvPr id="9" name="Picture 8">
            <a:extLst>
              <a:ext uri="{FF2B5EF4-FFF2-40B4-BE49-F238E27FC236}">
                <a16:creationId xmlns:a16="http://schemas.microsoft.com/office/drawing/2014/main" id="{20163BA0-803F-30A5-D6C8-3A0E7DC81470}"/>
              </a:ext>
            </a:extLst>
          </p:cNvPr>
          <p:cNvPicPr>
            <a:picLocks noChangeAspect="1"/>
          </p:cNvPicPr>
          <p:nvPr/>
        </p:nvPicPr>
        <p:blipFill>
          <a:blip r:embed="rId4"/>
          <a:stretch>
            <a:fillRect/>
          </a:stretch>
        </p:blipFill>
        <p:spPr>
          <a:xfrm>
            <a:off x="673768" y="1555905"/>
            <a:ext cx="10969287" cy="37933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DATASET</a:t>
            </a:r>
            <a:endParaRPr lang="en-US" sz="2400" dirty="0"/>
          </a:p>
        </p:txBody>
      </p:sp>
      <p:sp>
        <p:nvSpPr>
          <p:cNvPr id="5" name="Text 2"/>
          <p:cNvSpPr/>
          <p:nvPr/>
        </p:nvSpPr>
        <p:spPr>
          <a:xfrm>
            <a:off x="548640" y="1554480"/>
            <a:ext cx="11094415" cy="365760"/>
          </a:xfrm>
          <a:prstGeom prst="rect">
            <a:avLst/>
          </a:prstGeom>
          <a:noFill/>
          <a:ln/>
        </p:spPr>
        <p:txBody>
          <a:bodyPr wrap="square" rtlCol="0" anchor="ctr"/>
          <a:lstStyle/>
          <a:p>
            <a:pPr marL="0" indent="0">
              <a:buNone/>
            </a:pPr>
            <a:r>
              <a:rPr>
                <a:latin typeface="Aptos"/>
              </a:rPr>
              <a:t>M5 WALMART SALES FORECASTING DATASET OVERVIEW</a:t>
            </a:r>
            <a:endParaRPr lang="en-US" sz="1600" dirty="0"/>
          </a:p>
        </p:txBody>
      </p:sp>
      <p:sp>
        <p:nvSpPr>
          <p:cNvPr id="6" name="Text 3"/>
          <p:cNvSpPr/>
          <p:nvPr/>
        </p:nvSpPr>
        <p:spPr>
          <a:xfrm>
            <a:off x="548640" y="2057400"/>
            <a:ext cx="5272888" cy="4206240"/>
          </a:xfrm>
          <a:prstGeom prst="rect">
            <a:avLst/>
          </a:prstGeom>
          <a:noFill/>
          <a:ln/>
        </p:spPr>
        <p:txBody>
          <a:bodyPr wrap="square" rtlCol="0" anchor="t"/>
          <a:lstStyle/>
          <a:p>
            <a:pPr marL="0" indent="0">
              <a:lnSpc>
                <a:spcPct val="110000"/>
              </a:lnSpc>
              <a:spcAft>
                <a:spcPts val="600"/>
              </a:spcAft>
              <a:buNone/>
            </a:pPr>
            <a:r>
              <a:rPr>
                <a:latin typeface="Aptos"/>
              </a:rPr>
              <a:t>Source &amp; Scale</a:t>
            </a:r>
            <a:br/>
            <a:r>
              <a:rPr>
                <a:latin typeface="Aptos"/>
              </a:rPr>
              <a:t>30,490 bottom-level product–store time series</a:t>
            </a:r>
            <a:br/>
            <a:r>
              <a:rPr>
                <a:latin typeface="Aptos"/>
              </a:rPr>
              <a:t>3,049 products across 10 stores</a:t>
            </a:r>
            <a:br/>
            <a:r>
              <a:rPr>
                <a:latin typeface="Aptos"/>
              </a:rPr>
              <a:t>Three U.S. states: California, Texas, Wisconsin</a:t>
            </a:r>
            <a:br/>
            <a:r>
              <a:rPr>
                <a:latin typeface="Aptos"/>
              </a:rPr>
              <a:t>Daily historical sales spanning about 5.4 years</a:t>
            </a:r>
            <a:br/>
            <a:r>
              <a:rPr>
                <a:latin typeface="Aptos"/>
              </a:rPr>
              <a:t>Publicly available M5 Forecasting dataset</a:t>
            </a:r>
            <a:br/>
            <a:br/>
            <a:r>
              <a:rPr>
                <a:latin typeface="Aptos"/>
              </a:rPr>
              <a:t>Operational Data</a:t>
            </a:r>
            <a:br/>
            <a:r>
              <a:rPr>
                <a:latin typeface="Aptos"/>
              </a:rPr>
              <a:t>Daily unit sales</a:t>
            </a:r>
            <a:br/>
            <a:r>
              <a:rPr>
                <a:latin typeface="Aptos"/>
              </a:rPr>
              <a:t>Product, department and category</a:t>
            </a:r>
            <a:br/>
            <a:r>
              <a:rPr>
                <a:latin typeface="Aptos"/>
              </a:rPr>
              <a:t>Store and state</a:t>
            </a:r>
            <a:br/>
            <a:r>
              <a:rPr>
                <a:latin typeface="Aptos"/>
              </a:rPr>
              <a:t>Weekly selling price</a:t>
            </a:r>
            <a:br/>
            <a:r>
              <a:rPr>
                <a:latin typeface="Aptos"/>
              </a:rPr>
              <a:t>Calendar, holidays, events and SNAP indicators</a:t>
            </a:r>
            <a:br/>
            <a:r>
              <a:rPr>
                <a:latin typeface="Aptos"/>
              </a:rPr>
              <a:t>Target: future product demand / sales forecast</a:t>
            </a:r>
            <a:endParaRPr lang="en-US" sz="1500" dirty="0"/>
          </a:p>
        </p:txBody>
      </p:sp>
      <p:sp>
        <p:nvSpPr>
          <p:cNvPr id="7" name="Text 4"/>
          <p:cNvSpPr/>
          <p:nvPr/>
        </p:nvSpPr>
        <p:spPr>
          <a:xfrm>
            <a:off x="6370168" y="2057400"/>
            <a:ext cx="5272888" cy="4206240"/>
          </a:xfrm>
          <a:prstGeom prst="rect">
            <a:avLst/>
          </a:prstGeom>
          <a:noFill/>
          <a:ln/>
        </p:spPr>
        <p:txBody>
          <a:bodyPr wrap="square" rtlCol="0" anchor="t"/>
          <a:lstStyle/>
          <a:p>
            <a:pPr marL="0" indent="0">
              <a:lnSpc>
                <a:spcPct val="110000"/>
              </a:lnSpc>
              <a:spcAft>
                <a:spcPts val="600"/>
              </a:spcAft>
              <a:buNone/>
            </a:pPr>
            <a:r>
              <a:rPr>
                <a:latin typeface="Aptos"/>
              </a:rPr>
              <a:t>Key Predictors</a:t>
            </a:r>
            <a:br/>
            <a:r>
              <a:rPr>
                <a:latin typeface="Aptos"/>
              </a:rPr>
              <a:t>Historical demand and lag values</a:t>
            </a:r>
            <a:br/>
            <a:r>
              <a:rPr>
                <a:latin typeface="Aptos"/>
              </a:rPr>
              <a:t>Rolling averages and trends</a:t>
            </a:r>
            <a:br/>
            <a:r>
              <a:rPr>
                <a:latin typeface="Aptos"/>
              </a:rPr>
              <a:t>Price and price changes</a:t>
            </a:r>
            <a:br/>
            <a:r>
              <a:rPr>
                <a:latin typeface="Aptos"/>
              </a:rPr>
              <a:t>Weekday, month and seasonality</a:t>
            </a:r>
            <a:br/>
            <a:r>
              <a:rPr>
                <a:latin typeface="Aptos"/>
              </a:rPr>
              <a:t>Special events and holidays</a:t>
            </a:r>
            <a:br/>
            <a:r>
              <a:rPr>
                <a:latin typeface="Aptos"/>
              </a:rPr>
              <a:t>Store, state, category and department</a:t>
            </a:r>
            <a:br/>
            <a:r>
              <a:rPr>
                <a:latin typeface="Aptos"/>
              </a:rPr>
              <a:t>Forecast horizon: 28 days</a:t>
            </a:r>
            <a:endParaRPr lang="en-US" sz="1500" dirty="0"/>
          </a:p>
        </p:txBody>
      </p:sp>
      <p:pic>
        <p:nvPicPr>
          <p:cNvPr id="9" name="Picture 8">
            <a:extLst>
              <a:ext uri="{FF2B5EF4-FFF2-40B4-BE49-F238E27FC236}">
                <a16:creationId xmlns:a16="http://schemas.microsoft.com/office/drawing/2014/main" id="{64C05B60-FA32-8702-E69F-FF7B281D1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PROPOSED METHODOLOGY</a:t>
            </a:r>
            <a:endParaRPr lang="en-US" sz="2400" dirty="0"/>
          </a:p>
        </p:txBody>
      </p:sp>
      <p:sp>
        <p:nvSpPr>
          <p:cNvPr id="5" name="Text 2"/>
          <p:cNvSpPr/>
          <p:nvPr/>
        </p:nvSpPr>
        <p:spPr>
          <a:xfrm>
            <a:off x="822960" y="1965960"/>
            <a:ext cx="10820095" cy="4572000"/>
          </a:xfrm>
          <a:prstGeom prst="rect">
            <a:avLst/>
          </a:prstGeom>
          <a:noFill/>
          <a:ln/>
        </p:spPr>
        <p:txBody>
          <a:bodyPr wrap="square" rtlCol="0" anchor="t"/>
          <a:lstStyle/>
          <a:p>
            <a:pPr marL="0" indent="0">
              <a:lnSpc>
                <a:spcPct val="115000"/>
              </a:lnSpc>
              <a:spcAft>
                <a:spcPts val="400"/>
              </a:spcAft>
              <a:buNone/>
            </a:pPr>
            <a:r>
              <a:rPr>
                <a:latin typeface="Aptos"/>
              </a:rPr>
              <a:t>ML Pipeline:</a:t>
            </a:r>
            <a:br/>
            <a:r>
              <a:rPr>
                <a:latin typeface="Aptos"/>
              </a:rPr>
              <a:t>Dataset → Data Cleaning → Exploratory Data Analysis → Feature Engineering → Train/Test Split → Machine Learning Models → Demand Forecasting → Model Evaluation → Inventory &amp; Supply Chain Insights → Interactive Dashboard</a:t>
            </a:r>
            <a:br/>
            <a:br/>
            <a:r>
              <a:rPr>
                <a:latin typeface="Aptos"/>
              </a:rPr>
              <a:t>Models:</a:t>
            </a:r>
            <a:br/>
            <a:r>
              <a:rPr>
                <a:latin typeface="Aptos"/>
              </a:rPr>
              <a:t>Linear Regression, Random Forest, XGBoost/Gradient Boosting, and time-series/deep-learning models where appropriate.</a:t>
            </a:r>
            <a:br/>
            <a:br/>
            <a:r>
              <a:rPr>
                <a:latin typeface="Aptos"/>
              </a:rPr>
              <a:t>Evaluation Metrics:</a:t>
            </a:r>
            <a:br/>
            <a:r>
              <a:rPr>
                <a:latin typeface="Aptos"/>
              </a:rPr>
              <a:t>MAE, RMSE, MAPE/WAPE and forecast accuracy measures; business-oriented analysis of stockout and excess-inventory risk.</a:t>
            </a:r>
            <a:endParaRPr lang="en-US" sz="1700" dirty="0"/>
          </a:p>
        </p:txBody>
      </p:sp>
      <p:pic>
        <p:nvPicPr>
          <p:cNvPr id="7" name="Picture 6">
            <a:extLst>
              <a:ext uri="{FF2B5EF4-FFF2-40B4-BE49-F238E27FC236}">
                <a16:creationId xmlns:a16="http://schemas.microsoft.com/office/drawing/2014/main" id="{25E0A919-6642-BA06-FC40-48C10AC01A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DEVELOPED DASHBOARD</a:t>
            </a:r>
            <a:endParaRPr lang="en-US" sz="2400" dirty="0"/>
          </a:p>
        </p:txBody>
      </p:sp>
      <p:sp>
        <p:nvSpPr>
          <p:cNvPr id="5" name="Text 2"/>
          <p:cNvSpPr/>
          <p:nvPr/>
        </p:nvSpPr>
        <p:spPr>
          <a:xfrm>
            <a:off x="822960" y="2057400"/>
            <a:ext cx="10820095" cy="4572000"/>
          </a:xfrm>
          <a:prstGeom prst="rect">
            <a:avLst/>
          </a:prstGeom>
          <a:noFill/>
          <a:ln/>
        </p:spPr>
        <p:txBody>
          <a:bodyPr wrap="square" rtlCol="0" anchor="t"/>
          <a:lstStyle/>
          <a:p>
            <a:pPr marL="228600" indent="-228600">
              <a:lnSpc>
                <a:spcPct val="115000"/>
              </a:lnSpc>
              <a:spcAft>
                <a:spcPts val="1000"/>
              </a:spcAft>
              <a:buSzPct val="100000"/>
              <a:buChar char="•"/>
            </a:pPr>
            <a:r>
              <a:rPr>
                <a:latin typeface="Aptos"/>
              </a:rPr>
              <a:t>Product/store-level demand prediction</a:t>
            </a:r>
            <a:br/>
            <a:r>
              <a:rPr>
                <a:latin typeface="Aptos"/>
              </a:rPr>
              <a:t>28-day demand forecast visualization</a:t>
            </a:r>
            <a:br/>
            <a:r>
              <a:rPr>
                <a:latin typeface="Aptos"/>
              </a:rPr>
              <a:t>Historical sales and trend analysis</a:t>
            </a:r>
            <a:br/>
            <a:r>
              <a:rPr>
                <a:latin typeface="Aptos"/>
              </a:rPr>
              <a:t>Price, calendar and event-based insights</a:t>
            </a:r>
            <a:br/>
            <a:r>
              <a:rPr>
                <a:latin typeface="Aptos"/>
              </a:rPr>
              <a:t>Inventory risk indicators for high/low demand</a:t>
            </a:r>
            <a:br/>
            <a:r>
              <a:rPr>
                <a:latin typeface="Aptos"/>
              </a:rPr>
              <a:t>Store, category and department filters</a:t>
            </a:r>
            <a:br/>
            <a:r>
              <a:rPr>
                <a:latin typeface="Aptos"/>
              </a:rPr>
              <a:t>Model performance and feature-importance insights</a:t>
            </a:r>
            <a:endParaRPr lang="en-US" sz="1800" dirty="0"/>
          </a:p>
        </p:txBody>
      </p:sp>
      <p:pic>
        <p:nvPicPr>
          <p:cNvPr id="7" name="Picture 6">
            <a:extLst>
              <a:ext uri="{FF2B5EF4-FFF2-40B4-BE49-F238E27FC236}">
                <a16:creationId xmlns:a16="http://schemas.microsoft.com/office/drawing/2014/main" id="{BCE27B93-DA47-7B68-9B3A-059A8D85F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KEY INNOVATIONS</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0" indent="0">
              <a:lnSpc>
                <a:spcPct val="115000"/>
              </a:lnSpc>
              <a:spcAft>
                <a:spcPts val="400"/>
              </a:spcAft>
              <a:buNone/>
            </a:pPr>
            <a:r>
              <a:rPr>
                <a:latin typeface="Aptos"/>
              </a:rPr>
              <a:t>Interactive Predictive Dashboard</a:t>
            </a:r>
            <a:br/>
            <a:r>
              <a:rPr>
                <a:latin typeface="Aptos"/>
              </a:rPr>
              <a:t>User-driven exploration of demand forecasts and supply-chain indicators</a:t>
            </a:r>
            <a:br/>
            <a:br/>
            <a:r>
              <a:rPr>
                <a:latin typeface="Aptos"/>
              </a:rPr>
              <a:t>Multi-Level Supply Chain Analysis</a:t>
            </a:r>
            <a:br/>
            <a:r>
              <a:rPr>
                <a:latin typeface="Aptos"/>
              </a:rPr>
              <a:t>Analysis across products, departments, categories, stores and states</a:t>
            </a:r>
            <a:br/>
            <a:br/>
            <a:r>
              <a:rPr>
                <a:latin typeface="Aptos"/>
              </a:rPr>
              <a:t>Unified ML + Visual Analytics Platform</a:t>
            </a:r>
            <a:br/>
            <a:r>
              <a:rPr>
                <a:latin typeface="Aptos"/>
              </a:rPr>
              <a:t>Integration of data preprocessing, forecasting, model comparison, and interactive visualization</a:t>
            </a:r>
            <a:br/>
            <a:br/>
            <a:r>
              <a:rPr>
                <a:latin typeface="Aptos"/>
              </a:rPr>
              <a:t>Decision-Support Insights</a:t>
            </a:r>
            <a:br/>
            <a:r>
              <a:rPr>
                <a:latin typeface="Aptos"/>
              </a:rPr>
              <a:t>Translates predicted demand into practical inventory and replenishment insights, helping identify potential stockout and overstock situations.</a:t>
            </a:r>
            <a:endParaRPr lang="en-US" sz="1350" dirty="0"/>
          </a:p>
        </p:txBody>
      </p:sp>
      <p:pic>
        <p:nvPicPr>
          <p:cNvPr id="7" name="Picture 6">
            <a:extLst>
              <a:ext uri="{FF2B5EF4-FFF2-40B4-BE49-F238E27FC236}">
                <a16:creationId xmlns:a16="http://schemas.microsoft.com/office/drawing/2014/main" id="{230F5609-2635-4579-8A7A-8129961EB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RESEARCH CONTRIBUTION &amp; FEASIBILITY</a:t>
            </a:r>
            <a:endParaRPr lang="en-US" sz="2400" dirty="0"/>
          </a:p>
        </p:txBody>
      </p:sp>
      <p:sp>
        <p:nvSpPr>
          <p:cNvPr id="5" name="Text 2"/>
          <p:cNvSpPr/>
          <p:nvPr/>
        </p:nvSpPr>
        <p:spPr>
          <a:xfrm>
            <a:off x="548640" y="1965960"/>
            <a:ext cx="5272888" cy="4206240"/>
          </a:xfrm>
          <a:prstGeom prst="rect">
            <a:avLst/>
          </a:prstGeom>
          <a:noFill/>
          <a:ln/>
        </p:spPr>
        <p:txBody>
          <a:bodyPr wrap="square" rtlCol="0" anchor="t"/>
          <a:lstStyle/>
          <a:p>
            <a:pPr marL="0" indent="0">
              <a:lnSpc>
                <a:spcPct val="115000"/>
              </a:lnSpc>
              <a:spcAft>
                <a:spcPts val="800"/>
              </a:spcAft>
              <a:buNone/>
            </a:pPr>
            <a:r>
              <a:rPr>
                <a:latin typeface="Aptos"/>
              </a:rPr>
              <a:t>Contributions</a:t>
            </a:r>
            <a:br/>
            <a:r>
              <a:rPr>
                <a:latin typeface="Aptos"/>
              </a:rPr>
              <a:t>Integration of demand forecasting and supply-chain analytics in one framework</a:t>
            </a:r>
            <a:br/>
            <a:r>
              <a:rPr>
                <a:latin typeface="Aptos"/>
              </a:rPr>
              <a:t>Comparison of multiple ML approaches using common evaluation metrics</a:t>
            </a:r>
            <a:br/>
            <a:r>
              <a:rPr>
                <a:latin typeface="Aptos"/>
              </a:rPr>
              <a:t>Feature-based analysis of demand drivers such as price, seasonality, events, and store/product attributes</a:t>
            </a:r>
            <a:br/>
            <a:r>
              <a:rPr>
                <a:latin typeface="Aptos"/>
              </a:rPr>
              <a:t>Interactive dashboard for practical decision support</a:t>
            </a:r>
            <a:br/>
            <a:br/>
            <a:r>
              <a:rPr>
                <a:latin typeface="Aptos"/>
              </a:rPr>
              <a:t>Technical Feasibility</a:t>
            </a:r>
            <a:br/>
            <a:r>
              <a:rPr>
                <a:latin typeface="Aptos"/>
              </a:rPr>
              <a:t>Built with Python and open-source libraries such as Pandas, NumPy, Scikit-learn, XGBoost, Plotly and Streamlit</a:t>
            </a:r>
            <a:br/>
            <a:r>
              <a:rPr>
                <a:latin typeface="Aptos"/>
              </a:rPr>
              <a:t>Uses the publicly available M5 Walmart dataset</a:t>
            </a:r>
            <a:br/>
            <a:r>
              <a:rPr>
                <a:latin typeface="Aptos"/>
              </a:rPr>
              <a:t>No specialized hardware is required for a prototype</a:t>
            </a:r>
            <a:br/>
            <a:r>
              <a:rPr>
                <a:latin typeface="Aptos"/>
              </a:rPr>
              <a:t>Browser-based dashboard can support academic and demonstration use</a:t>
            </a:r>
            <a:endParaRPr lang="en-US" sz="1600" dirty="0"/>
          </a:p>
        </p:txBody>
      </p:sp>
      <p:sp>
        <p:nvSpPr>
          <p:cNvPr id="6" name="Text 3"/>
          <p:cNvSpPr/>
          <p:nvPr/>
        </p:nvSpPr>
        <p:spPr>
          <a:xfrm>
            <a:off x="6370168" y="1965960"/>
            <a:ext cx="5272888" cy="4206240"/>
          </a:xfrm>
          <a:prstGeom prst="rect">
            <a:avLst/>
          </a:prstGeom>
          <a:noFill/>
          <a:ln/>
        </p:spPr>
        <p:txBody>
          <a:bodyPr wrap="square" rtlCol="0" anchor="t"/>
          <a:lstStyle/>
          <a:p>
            <a:pPr marL="0" indent="0">
              <a:lnSpc>
                <a:spcPct val="115000"/>
              </a:lnSpc>
              <a:spcAft>
                <a:spcPts val="800"/>
              </a:spcAft>
              <a:buNone/>
            </a:pPr>
            <a:r>
              <a:rPr>
                <a:latin typeface="Aptos"/>
              </a:rPr>
              <a:t>Implementation Scope</a:t>
            </a:r>
            <a:br/>
            <a:r>
              <a:rPr>
                <a:latin typeface="Aptos"/>
              </a:rPr>
              <a:t>Forecasting can be trained at selected product/store levels or aggregated levels to manage computational requirements.</a:t>
            </a:r>
            <a:br/>
            <a:r>
              <a:rPr>
                <a:latin typeface="Aptos"/>
              </a:rPr>
              <a:t>The system is designed as a research prototype and can later be connected to live enterprise supply-chain data.</a:t>
            </a:r>
            <a:endParaRPr lang="en-US" sz="1600" dirty="0"/>
          </a:p>
        </p:txBody>
      </p:sp>
      <p:pic>
        <p:nvPicPr>
          <p:cNvPr id="8" name="Picture 7">
            <a:extLst>
              <a:ext uri="{FF2B5EF4-FFF2-40B4-BE49-F238E27FC236}">
                <a16:creationId xmlns:a16="http://schemas.microsoft.com/office/drawing/2014/main" id="{9DDA86EB-A9E4-87DE-5D59-DB9DABE926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a:latin typeface="Aptos"/>
              </a:rPr>
              <a:t>CONCLUSION &amp; FUTURE SCOPE</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0" indent="0">
              <a:lnSpc>
                <a:spcPct val="115000"/>
              </a:lnSpc>
              <a:spcAft>
                <a:spcPts val="400"/>
              </a:spcAft>
              <a:buNone/>
            </a:pPr>
            <a:r>
              <a:rPr>
                <a:latin typeface="Aptos"/>
              </a:rPr>
              <a:t>Conclusion:</a:t>
            </a:r>
            <a:br/>
            <a:r>
              <a:rPr>
                <a:latin typeface="Aptos"/>
              </a:rPr>
              <a:t>The proposed system combines machine learning, predictive analytics, demand forecasting, and interactive visualization to support supply chain optimization. It aims to turn historical sales and operational data into actionable forecasts and inventory insights.</a:t>
            </a:r>
            <a:br/>
            <a:br/>
            <a:r>
              <a:rPr>
                <a:latin typeface="Aptos"/>
              </a:rPr>
              <a:t>Future Scope:</a:t>
            </a:r>
            <a:br/>
            <a:r>
              <a:rPr>
                <a:latin typeface="Aptos"/>
              </a:rPr>
              <a:t>Integration of real-time sales, inventory, and logistics data</a:t>
            </a:r>
            <a:br/>
            <a:r>
              <a:rPr>
                <a:latin typeface="Aptos"/>
              </a:rPr>
              <a:t>Probabilistic forecasting and uncertainty estimation</a:t>
            </a:r>
            <a:br/>
            <a:r>
              <a:rPr>
                <a:latin typeface="Aptos"/>
              </a:rPr>
              <a:t>Reinforcement learning for dynamic inventory optimization</a:t>
            </a:r>
            <a:br/>
            <a:r>
              <a:rPr>
                <a:latin typeface="Aptos"/>
              </a:rPr>
              <a:t>Supply-chain disruption and risk prediction</a:t>
            </a:r>
            <a:br/>
            <a:r>
              <a:rPr>
                <a:latin typeface="Aptos"/>
              </a:rPr>
              <a:t>Multi-echelon inventory optimization</a:t>
            </a:r>
            <a:br/>
            <a:r>
              <a:rPr>
                <a:latin typeface="Aptos"/>
              </a:rPr>
              <a:t>Deployment with cloud and enterprise ERP/SCM systems</a:t>
            </a:r>
            <a:br/>
            <a:r>
              <a:rPr>
                <a:latin typeface="Aptos"/>
              </a:rPr>
              <a:t>Explainable AI for transparent business decisions</a:t>
            </a:r>
            <a:endParaRPr lang="en-US" sz="1450" dirty="0"/>
          </a:p>
        </p:txBody>
      </p:sp>
      <p:sp>
        <p:nvSpPr>
          <p:cNvPr id="6" name="Text 3"/>
          <p:cNvSpPr/>
          <p:nvPr/>
        </p:nvSpPr>
        <p:spPr>
          <a:xfrm>
            <a:off x="548640" y="6126480"/>
            <a:ext cx="11094415" cy="457200"/>
          </a:xfrm>
          <a:prstGeom prst="rect">
            <a:avLst/>
          </a:prstGeom>
          <a:noFill/>
          <a:ln/>
        </p:spPr>
        <p:txBody>
          <a:bodyPr wrap="square" rtlCol="0" anchor="ctr"/>
          <a:lstStyle/>
          <a:p>
            <a:pPr marL="0" indent="0">
              <a:buNone/>
            </a:pPr>
            <a:r>
              <a:rPr>
                <a:latin typeface="Aptos"/>
              </a:rPr>
              <a:t>Note: This system is a research and decision-support prototype. Forecasts should be validated against business constraints, operational policies, and real-world supply-chain conditions before production use.</a:t>
            </a:r>
            <a:endParaRPr lang="en-US" sz="1100" dirty="0"/>
          </a:p>
        </p:txBody>
      </p:sp>
      <p:pic>
        <p:nvPicPr>
          <p:cNvPr id="8" name="Picture 7">
            <a:extLst>
              <a:ext uri="{FF2B5EF4-FFF2-40B4-BE49-F238E27FC236}">
                <a16:creationId xmlns:a16="http://schemas.microsoft.com/office/drawing/2014/main" id="{A8669151-4E5E-7FD9-FA9E-4DD65C5D6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0" y="2926080"/>
            <a:ext cx="12191695" cy="1097280"/>
          </a:xfrm>
          <a:prstGeom prst="rect">
            <a:avLst/>
          </a:prstGeom>
          <a:noFill/>
          <a:ln/>
        </p:spPr>
        <p:txBody>
          <a:bodyPr wrap="square" rtlCol="0" anchor="ctr"/>
          <a:lstStyle/>
          <a:p>
            <a:pPr marL="0" indent="0" algn="ctr">
              <a:buNone/>
            </a:pPr>
            <a:r>
              <a:t>THANK YOU</a:t>
            </a:r>
            <a:endParaRPr lang="en-US" sz="4000" dirty="0"/>
          </a:p>
        </p:txBody>
      </p:sp>
      <p:pic>
        <p:nvPicPr>
          <p:cNvPr id="5" name="Picture 4">
            <a:extLst>
              <a:ext uri="{FF2B5EF4-FFF2-40B4-BE49-F238E27FC236}">
                <a16:creationId xmlns:a16="http://schemas.microsoft.com/office/drawing/2014/main" id="{7DE3674E-96EB-3616-0C1E-D8C280541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1324</Words>
  <Application>Microsoft Office PowerPoint</Application>
  <PresentationFormat>Widescreen</PresentationFormat>
  <Paragraphs>147</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vinay varma</cp:lastModifiedBy>
  <cp:revision>6</cp:revision>
  <dcterms:created xsi:type="dcterms:W3CDTF">2026-08-13T08:42:59Z</dcterms:created>
  <dcterms:modified xsi:type="dcterms:W3CDTF">2026-08-17T04:56:40Z</dcterms:modified>
</cp:coreProperties>
</file>